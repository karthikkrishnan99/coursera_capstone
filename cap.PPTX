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55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E54FF2B-A014-494E-A895-69DF3F51460F}" type="datetimeFigureOut">
              <a:rPr lang="en-IN" smtClean="0"/>
              <a:t>26-04-2020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945F79-67CC-4269-9A95-86ADFFABEB13}" type="slidenum">
              <a:rPr lang="en-IN" smtClean="0"/>
              <a:t>‹#›</a:t>
            </a:fld>
            <a:endParaRPr lang="en-IN"/>
          </a:p>
        </p:txBody>
      </p:sp>
    </p:spTree>
    <p:extLst>
      <p:ext uri="{BB962C8B-B14F-4D97-AF65-F5344CB8AC3E}">
        <p14:creationId xmlns:p14="http://schemas.microsoft.com/office/powerpoint/2010/main" val="3860353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54FF2B-A014-494E-A895-69DF3F51460F}" type="datetimeFigureOut">
              <a:rPr lang="en-IN" smtClean="0"/>
              <a:t>26-04-2020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945F79-67CC-4269-9A95-86ADFFABEB13}" type="slidenum">
              <a:rPr lang="en-IN" smtClean="0"/>
              <a:t>‹#›</a:t>
            </a:fld>
            <a:endParaRPr lang="en-IN"/>
          </a:p>
        </p:txBody>
      </p:sp>
    </p:spTree>
    <p:extLst>
      <p:ext uri="{BB962C8B-B14F-4D97-AF65-F5344CB8AC3E}">
        <p14:creationId xmlns:p14="http://schemas.microsoft.com/office/powerpoint/2010/main" val="1132376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54FF2B-A014-494E-A895-69DF3F51460F}" type="datetimeFigureOut">
              <a:rPr lang="en-IN" smtClean="0"/>
              <a:t>26-04-2020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945F79-67CC-4269-9A95-86ADFFABEB13}" type="slidenum">
              <a:rPr lang="en-IN" smtClean="0"/>
              <a:t>‹#›</a:t>
            </a:fld>
            <a:endParaRPr lang="en-IN"/>
          </a:p>
        </p:txBody>
      </p:sp>
    </p:spTree>
    <p:extLst>
      <p:ext uri="{BB962C8B-B14F-4D97-AF65-F5344CB8AC3E}">
        <p14:creationId xmlns:p14="http://schemas.microsoft.com/office/powerpoint/2010/main" val="1564724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E54FF2B-A014-494E-A895-69DF3F51460F}" type="datetimeFigureOut">
              <a:rPr lang="en-IN" smtClean="0"/>
              <a:t>26-04-2020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4945F79-67CC-4269-9A95-86ADFFABEB13}" type="slidenum">
              <a:rPr lang="en-IN" smtClean="0"/>
              <a:t>‹#›</a:t>
            </a:fld>
            <a:endParaRPr lang="en-IN"/>
          </a:p>
        </p:txBody>
      </p:sp>
    </p:spTree>
    <p:extLst>
      <p:ext uri="{BB962C8B-B14F-4D97-AF65-F5344CB8AC3E}">
        <p14:creationId xmlns:p14="http://schemas.microsoft.com/office/powerpoint/2010/main" val="263261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E54FF2B-A014-494E-A895-69DF3F51460F}" type="datetimeFigureOut">
              <a:rPr lang="en-IN" smtClean="0"/>
              <a:t>26-04-2020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4945F79-67CC-4269-9A95-86ADFFABEB13}" type="slidenum">
              <a:rPr lang="en-IN" smtClean="0"/>
              <a:t>‹#›</a:t>
            </a:fld>
            <a:endParaRPr lang="en-IN"/>
          </a:p>
        </p:txBody>
      </p:sp>
    </p:spTree>
    <p:extLst>
      <p:ext uri="{BB962C8B-B14F-4D97-AF65-F5344CB8AC3E}">
        <p14:creationId xmlns:p14="http://schemas.microsoft.com/office/powerpoint/2010/main" val="557069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E54FF2B-A014-494E-A895-69DF3F51460F}" type="datetimeFigureOut">
              <a:rPr lang="en-IN" smtClean="0"/>
              <a:t>26-04-2020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4945F79-67CC-4269-9A95-86ADFFABEB13}" type="slidenum">
              <a:rPr lang="en-IN" smtClean="0"/>
              <a:t>‹#›</a:t>
            </a:fld>
            <a:endParaRPr lang="en-IN"/>
          </a:p>
        </p:txBody>
      </p:sp>
    </p:spTree>
    <p:extLst>
      <p:ext uri="{BB962C8B-B14F-4D97-AF65-F5344CB8AC3E}">
        <p14:creationId xmlns:p14="http://schemas.microsoft.com/office/powerpoint/2010/main" val="882028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54FF2B-A014-494E-A895-69DF3F51460F}" type="datetimeFigureOut">
              <a:rPr lang="en-IN" smtClean="0"/>
              <a:t>26-04-2020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4945F79-67CC-4269-9A95-86ADFFABEB13}" type="slidenum">
              <a:rPr lang="en-IN" smtClean="0"/>
              <a:t>‹#›</a:t>
            </a:fld>
            <a:endParaRPr lang="en-IN"/>
          </a:p>
        </p:txBody>
      </p:sp>
    </p:spTree>
    <p:extLst>
      <p:ext uri="{BB962C8B-B14F-4D97-AF65-F5344CB8AC3E}">
        <p14:creationId xmlns:p14="http://schemas.microsoft.com/office/powerpoint/2010/main" val="3983862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E54FF2B-A014-494E-A895-69DF3F51460F}" type="datetimeFigureOut">
              <a:rPr lang="en-IN" smtClean="0"/>
              <a:t>26-04-2020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4945F79-67CC-4269-9A95-86ADFFABEB13}" type="slidenum">
              <a:rPr lang="en-IN" smtClean="0"/>
              <a:t>‹#›</a:t>
            </a:fld>
            <a:endParaRPr lang="en-IN"/>
          </a:p>
        </p:txBody>
      </p:sp>
    </p:spTree>
    <p:extLst>
      <p:ext uri="{BB962C8B-B14F-4D97-AF65-F5344CB8AC3E}">
        <p14:creationId xmlns:p14="http://schemas.microsoft.com/office/powerpoint/2010/main" val="1117338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54FF2B-A014-494E-A895-69DF3F51460F}" type="datetimeFigureOut">
              <a:rPr lang="en-IN" smtClean="0"/>
              <a:t>26-04-2020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4945F79-67CC-4269-9A95-86ADFFABEB13}" type="slidenum">
              <a:rPr lang="en-IN" smtClean="0"/>
              <a:t>‹#›</a:t>
            </a:fld>
            <a:endParaRPr lang="en-IN"/>
          </a:p>
        </p:txBody>
      </p:sp>
    </p:spTree>
    <p:extLst>
      <p:ext uri="{BB962C8B-B14F-4D97-AF65-F5344CB8AC3E}">
        <p14:creationId xmlns:p14="http://schemas.microsoft.com/office/powerpoint/2010/main" val="3951590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54FF2B-A014-494E-A895-69DF3F51460F}" type="datetimeFigureOut">
              <a:rPr lang="en-IN" smtClean="0"/>
              <a:t>26-04-2020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945F79-67CC-4269-9A95-86ADFFABEB13}" type="slidenum">
              <a:rPr lang="en-IN" smtClean="0"/>
              <a:t>‹#›</a:t>
            </a:fld>
            <a:endParaRPr lang="en-IN"/>
          </a:p>
        </p:txBody>
      </p:sp>
    </p:spTree>
    <p:extLst>
      <p:ext uri="{BB962C8B-B14F-4D97-AF65-F5344CB8AC3E}">
        <p14:creationId xmlns:p14="http://schemas.microsoft.com/office/powerpoint/2010/main" val="3572419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54FF2B-A014-494E-A895-69DF3F51460F}" type="datetimeFigureOut">
              <a:rPr lang="en-IN" smtClean="0"/>
              <a:t>26-04-2020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945F79-67CC-4269-9A95-86ADFFABEB13}"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8283392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54FF2B-A014-494E-A895-69DF3F51460F}" type="datetimeFigureOut">
              <a:rPr lang="en-IN" smtClean="0"/>
              <a:t>26-04-2020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945F79-67CC-4269-9A95-86ADFFABEB13}" type="slidenum">
              <a:rPr lang="en-IN" smtClean="0"/>
              <a:t>‹#›</a:t>
            </a:fld>
            <a:endParaRPr lang="en-IN"/>
          </a:p>
        </p:txBody>
      </p:sp>
    </p:spTree>
    <p:extLst>
      <p:ext uri="{BB962C8B-B14F-4D97-AF65-F5344CB8AC3E}">
        <p14:creationId xmlns:p14="http://schemas.microsoft.com/office/powerpoint/2010/main" val="13760032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54FF2B-A014-494E-A895-69DF3F51460F}" type="datetimeFigureOut">
              <a:rPr lang="en-IN" smtClean="0"/>
              <a:t>26-04-2020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945F79-67CC-4269-9A95-86ADFFABEB13}"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061671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54FF2B-A014-494E-A895-69DF3F51460F}" type="datetimeFigureOut">
              <a:rPr lang="en-IN" smtClean="0"/>
              <a:t>26-04-2020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945F79-67CC-4269-9A95-86ADFFABEB13}" type="slidenum">
              <a:rPr lang="en-IN" smtClean="0"/>
              <a:t>‹#›</a:t>
            </a:fld>
            <a:endParaRPr lang="en-IN"/>
          </a:p>
        </p:txBody>
      </p:sp>
    </p:spTree>
    <p:extLst>
      <p:ext uri="{BB962C8B-B14F-4D97-AF65-F5344CB8AC3E}">
        <p14:creationId xmlns:p14="http://schemas.microsoft.com/office/powerpoint/2010/main" val="18720553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54FF2B-A014-494E-A895-69DF3F51460F}" type="datetimeFigureOut">
              <a:rPr lang="en-IN" smtClean="0"/>
              <a:t>26-04-2020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945F79-67CC-4269-9A95-86ADFFABEB13}" type="slidenum">
              <a:rPr lang="en-IN" smtClean="0"/>
              <a:t>‹#›</a:t>
            </a:fld>
            <a:endParaRPr lang="en-IN"/>
          </a:p>
        </p:txBody>
      </p:sp>
    </p:spTree>
    <p:extLst>
      <p:ext uri="{BB962C8B-B14F-4D97-AF65-F5344CB8AC3E}">
        <p14:creationId xmlns:p14="http://schemas.microsoft.com/office/powerpoint/2010/main" val="13955993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54FF2B-A014-494E-A895-69DF3F51460F}" type="datetimeFigureOut">
              <a:rPr lang="en-IN" smtClean="0"/>
              <a:t>26-04-2020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945F79-67CC-4269-9A95-86ADFFABEB13}" type="slidenum">
              <a:rPr lang="en-IN" smtClean="0"/>
              <a:t>‹#›</a:t>
            </a:fld>
            <a:endParaRPr lang="en-IN"/>
          </a:p>
        </p:txBody>
      </p:sp>
    </p:spTree>
    <p:extLst>
      <p:ext uri="{BB962C8B-B14F-4D97-AF65-F5344CB8AC3E}">
        <p14:creationId xmlns:p14="http://schemas.microsoft.com/office/powerpoint/2010/main" val="3300586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E54FF2B-A014-494E-A895-69DF3F51460F}" type="datetimeFigureOut">
              <a:rPr lang="en-IN" smtClean="0"/>
              <a:t>26-04-2020</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4945F79-67CC-4269-9A95-86ADFFABEB13}" type="slidenum">
              <a:rPr lang="en-IN" smtClean="0"/>
              <a:t>‹#›</a:t>
            </a:fld>
            <a:endParaRPr lang="en-IN"/>
          </a:p>
        </p:txBody>
      </p:sp>
    </p:spTree>
    <p:extLst>
      <p:ext uri="{BB962C8B-B14F-4D97-AF65-F5344CB8AC3E}">
        <p14:creationId xmlns:p14="http://schemas.microsoft.com/office/powerpoint/2010/main" val="22181740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chennaiiq.com/chennai/latitude_longitude_areas.asp"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551CC-D885-4039-A3D7-79CF8AE2C923}"/>
              </a:ext>
            </a:extLst>
          </p:cNvPr>
          <p:cNvSpPr>
            <a:spLocks noGrp="1"/>
          </p:cNvSpPr>
          <p:nvPr>
            <p:ph type="ctrTitle"/>
          </p:nvPr>
        </p:nvSpPr>
        <p:spPr>
          <a:xfrm>
            <a:off x="1507067" y="1572536"/>
            <a:ext cx="7766936" cy="1646302"/>
          </a:xfrm>
        </p:spPr>
        <p:txBody>
          <a:bodyPr/>
          <a:lstStyle/>
          <a:p>
            <a:r>
              <a:rPr lang="en-IN" sz="3200" dirty="0"/>
              <a:t>ANALYSIS OF RESTAURANT DISTRIBUTION IN THE CITY OF CHENNAI</a:t>
            </a:r>
          </a:p>
        </p:txBody>
      </p:sp>
      <p:sp>
        <p:nvSpPr>
          <p:cNvPr id="3" name="Subtitle 2">
            <a:extLst>
              <a:ext uri="{FF2B5EF4-FFF2-40B4-BE49-F238E27FC236}">
                <a16:creationId xmlns:a16="http://schemas.microsoft.com/office/drawing/2014/main" id="{F28E5328-5EC2-425F-9C73-5B21259F2ABB}"/>
              </a:ext>
            </a:extLst>
          </p:cNvPr>
          <p:cNvSpPr>
            <a:spLocks noGrp="1"/>
          </p:cNvSpPr>
          <p:nvPr>
            <p:ph type="subTitle" idx="1"/>
          </p:nvPr>
        </p:nvSpPr>
        <p:spPr>
          <a:xfrm>
            <a:off x="1507067" y="3639163"/>
            <a:ext cx="7766936" cy="1096899"/>
          </a:xfrm>
        </p:spPr>
        <p:txBody>
          <a:bodyPr>
            <a:normAutofit/>
          </a:bodyPr>
          <a:lstStyle/>
          <a:p>
            <a:r>
              <a:rPr lang="en-IN" sz="2400" dirty="0">
                <a:solidFill>
                  <a:schemeClr val="accent1"/>
                </a:solidFill>
              </a:rPr>
              <a:t>By S Karthik Krishnan</a:t>
            </a:r>
          </a:p>
        </p:txBody>
      </p:sp>
    </p:spTree>
    <p:extLst>
      <p:ext uri="{BB962C8B-B14F-4D97-AF65-F5344CB8AC3E}">
        <p14:creationId xmlns:p14="http://schemas.microsoft.com/office/powerpoint/2010/main" val="4130572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6A398-4561-4D03-B42E-B194B629FA76}"/>
              </a:ext>
            </a:extLst>
          </p:cNvPr>
          <p:cNvSpPr>
            <a:spLocks noGrp="1"/>
          </p:cNvSpPr>
          <p:nvPr>
            <p:ph type="title"/>
          </p:nvPr>
        </p:nvSpPr>
        <p:spPr/>
        <p:txBody>
          <a:bodyPr/>
          <a:lstStyle/>
          <a:p>
            <a:r>
              <a:rPr lang="en-IN" dirty="0"/>
              <a:t>BUSINESS UNDERSTANDING </a:t>
            </a:r>
          </a:p>
        </p:txBody>
      </p:sp>
      <p:sp>
        <p:nvSpPr>
          <p:cNvPr id="3" name="Content Placeholder 2">
            <a:extLst>
              <a:ext uri="{FF2B5EF4-FFF2-40B4-BE49-F238E27FC236}">
                <a16:creationId xmlns:a16="http://schemas.microsoft.com/office/drawing/2014/main" id="{27775AD3-6E58-4044-BCF7-30360BC977E9}"/>
              </a:ext>
            </a:extLst>
          </p:cNvPr>
          <p:cNvSpPr>
            <a:spLocks noGrp="1"/>
          </p:cNvSpPr>
          <p:nvPr>
            <p:ph idx="1"/>
          </p:nvPr>
        </p:nvSpPr>
        <p:spPr>
          <a:xfrm>
            <a:off x="677334" y="1770380"/>
            <a:ext cx="8596668" cy="3880773"/>
          </a:xfrm>
        </p:spPr>
        <p:txBody>
          <a:bodyPr>
            <a:noAutofit/>
          </a:bodyPr>
          <a:lstStyle/>
          <a:p>
            <a:r>
              <a:rPr lang="en-IN" sz="2000" dirty="0"/>
              <a:t>To analyse the restaurant distribution in the city of Chennai.</a:t>
            </a:r>
          </a:p>
          <a:p>
            <a:r>
              <a:rPr lang="en-IN" sz="2000" dirty="0"/>
              <a:t>To cluster them into meaningful groups that provide useful insights while choosing a location to open a restaurant.</a:t>
            </a:r>
          </a:p>
          <a:p>
            <a:r>
              <a:rPr lang="en-IN" sz="2000" dirty="0"/>
              <a:t>The target stakeholders are individuals that are involved in or are interested in the restaurant industry and is especially useful for stakeholders interested in opening up restaurants in different venues in the city.</a:t>
            </a:r>
          </a:p>
          <a:p>
            <a:r>
              <a:rPr lang="en-IN" sz="2000" dirty="0"/>
              <a:t>The reason for choosing Chennai is because it is one of the major metropolitan cities in the country of India and considering the fact that India is a developing nation with ever-growing middle class, it makes sense that a large number of stakeholders could benefit from this analysis.</a:t>
            </a:r>
          </a:p>
        </p:txBody>
      </p:sp>
    </p:spTree>
    <p:extLst>
      <p:ext uri="{BB962C8B-B14F-4D97-AF65-F5344CB8AC3E}">
        <p14:creationId xmlns:p14="http://schemas.microsoft.com/office/powerpoint/2010/main" val="322028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46C40-D9D2-4EC7-98AF-FD5672FF49F2}"/>
              </a:ext>
            </a:extLst>
          </p:cNvPr>
          <p:cNvSpPr>
            <a:spLocks noGrp="1"/>
          </p:cNvSpPr>
          <p:nvPr>
            <p:ph type="title"/>
          </p:nvPr>
        </p:nvSpPr>
        <p:spPr>
          <a:xfrm>
            <a:off x="677334" y="609600"/>
            <a:ext cx="8596668" cy="1059180"/>
          </a:xfrm>
        </p:spPr>
        <p:txBody>
          <a:bodyPr>
            <a:normAutofit fontScale="90000"/>
          </a:bodyPr>
          <a:lstStyle/>
          <a:p>
            <a:r>
              <a:rPr lang="en-IN" dirty="0"/>
              <a:t>DATA PREPARATION – Location information </a:t>
            </a:r>
          </a:p>
        </p:txBody>
      </p:sp>
      <p:sp>
        <p:nvSpPr>
          <p:cNvPr id="3" name="Content Placeholder 2">
            <a:extLst>
              <a:ext uri="{FF2B5EF4-FFF2-40B4-BE49-F238E27FC236}">
                <a16:creationId xmlns:a16="http://schemas.microsoft.com/office/drawing/2014/main" id="{C3AD352F-DEF8-4306-BEB8-8145F5A47625}"/>
              </a:ext>
            </a:extLst>
          </p:cNvPr>
          <p:cNvSpPr>
            <a:spLocks noGrp="1"/>
          </p:cNvSpPr>
          <p:nvPr>
            <p:ph idx="1"/>
          </p:nvPr>
        </p:nvSpPr>
        <p:spPr>
          <a:xfrm>
            <a:off x="677334" y="1668781"/>
            <a:ext cx="8596668" cy="4372582"/>
          </a:xfrm>
        </p:spPr>
        <p:txBody>
          <a:bodyPr/>
          <a:lstStyle/>
          <a:p>
            <a:r>
              <a:rPr lang="en-IN" dirty="0"/>
              <a:t>The latitude and longitude data of the different neighbourhoods in the city of Chennai:- </a:t>
            </a:r>
            <a:r>
              <a:rPr lang="en-IN" u="sng" dirty="0">
                <a:hlinkClick r:id="rId2"/>
              </a:rPr>
              <a:t>https://chennaiiq.com/chennai/latitude_longitude_areas.asp</a:t>
            </a:r>
            <a:r>
              <a:rPr lang="en-IN" u="sng" dirty="0"/>
              <a:t> </a:t>
            </a:r>
          </a:p>
          <a:p>
            <a:r>
              <a:rPr lang="en-IN" dirty="0"/>
              <a:t>Beautiful soup module in python is used to extract the information from the website and put it into a pandas </a:t>
            </a:r>
            <a:r>
              <a:rPr lang="en-IN" dirty="0" err="1"/>
              <a:t>dataframe</a:t>
            </a:r>
            <a:r>
              <a:rPr lang="en-IN" dirty="0"/>
              <a:t>.</a:t>
            </a:r>
          </a:p>
          <a:p>
            <a:r>
              <a:rPr lang="en-IN" dirty="0"/>
              <a:t>The latitude and longitude data is obtained in DMS system and is converted to decimals system for convenience and ease of usage.</a:t>
            </a:r>
          </a:p>
          <a:p>
            <a:endParaRPr lang="en-IN" dirty="0"/>
          </a:p>
        </p:txBody>
      </p:sp>
      <p:pic>
        <p:nvPicPr>
          <p:cNvPr id="4" name="Picture 3">
            <a:extLst>
              <a:ext uri="{FF2B5EF4-FFF2-40B4-BE49-F238E27FC236}">
                <a16:creationId xmlns:a16="http://schemas.microsoft.com/office/drawing/2014/main" id="{A7B65828-1482-4051-8C91-1BA4A3F2FC2B}"/>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054913" y="3780471"/>
            <a:ext cx="2514600" cy="2817495"/>
          </a:xfrm>
          <a:prstGeom prst="rect">
            <a:avLst/>
          </a:prstGeom>
          <a:noFill/>
          <a:ln>
            <a:noFill/>
          </a:ln>
        </p:spPr>
      </p:pic>
    </p:spTree>
    <p:extLst>
      <p:ext uri="{BB962C8B-B14F-4D97-AF65-F5344CB8AC3E}">
        <p14:creationId xmlns:p14="http://schemas.microsoft.com/office/powerpoint/2010/main" val="808210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054D3-23F7-48A9-BA0E-DD7F065041D6}"/>
              </a:ext>
            </a:extLst>
          </p:cNvPr>
          <p:cNvSpPr>
            <a:spLocks noGrp="1"/>
          </p:cNvSpPr>
          <p:nvPr>
            <p:ph type="title"/>
          </p:nvPr>
        </p:nvSpPr>
        <p:spPr/>
        <p:txBody>
          <a:bodyPr>
            <a:normAutofit/>
          </a:bodyPr>
          <a:lstStyle/>
          <a:p>
            <a:r>
              <a:rPr lang="en-IN" sz="3200" dirty="0"/>
              <a:t>DATA PREPARATION – Venue information </a:t>
            </a:r>
          </a:p>
        </p:txBody>
      </p:sp>
      <p:sp>
        <p:nvSpPr>
          <p:cNvPr id="3" name="Content Placeholder 2">
            <a:extLst>
              <a:ext uri="{FF2B5EF4-FFF2-40B4-BE49-F238E27FC236}">
                <a16:creationId xmlns:a16="http://schemas.microsoft.com/office/drawing/2014/main" id="{56572FDE-9E7F-4598-B8F4-D68796777B36}"/>
              </a:ext>
            </a:extLst>
          </p:cNvPr>
          <p:cNvSpPr>
            <a:spLocks noGrp="1"/>
          </p:cNvSpPr>
          <p:nvPr>
            <p:ph idx="1"/>
          </p:nvPr>
        </p:nvSpPr>
        <p:spPr>
          <a:xfrm>
            <a:off x="677334" y="1720499"/>
            <a:ext cx="8596668" cy="4371208"/>
          </a:xfrm>
        </p:spPr>
        <p:txBody>
          <a:bodyPr>
            <a:normAutofit/>
          </a:bodyPr>
          <a:lstStyle/>
          <a:p>
            <a:r>
              <a:rPr lang="en-IN" dirty="0"/>
              <a:t>The venue information is obtained from the foursquare website by making API calls.</a:t>
            </a:r>
          </a:p>
          <a:p>
            <a:r>
              <a:rPr lang="en-IN" dirty="0"/>
              <a:t>The </a:t>
            </a:r>
            <a:r>
              <a:rPr lang="en-IN" dirty="0" err="1"/>
              <a:t>url</a:t>
            </a:r>
            <a:r>
              <a:rPr lang="en-IN" dirty="0"/>
              <a:t> for the API calls involve the Client ID, client SECRET, the version date (</a:t>
            </a:r>
            <a:r>
              <a:rPr lang="en-IN" dirty="0" err="1"/>
              <a:t>upto</a:t>
            </a:r>
            <a:r>
              <a:rPr lang="en-IN" dirty="0"/>
              <a:t> date) , the latitude and longitude of the location, the radius about which the information is to be returned, the limit on number of instances to be returned and the endpoint( explore? Or categories? Or search? Etc)</a:t>
            </a:r>
          </a:p>
          <a:p>
            <a:r>
              <a:rPr lang="en-IN" dirty="0"/>
              <a:t>The API call looks as shown below:-</a:t>
            </a:r>
          </a:p>
          <a:p>
            <a:endParaRPr lang="en-IN" dirty="0"/>
          </a:p>
          <a:p>
            <a:endParaRPr lang="en-IN" dirty="0"/>
          </a:p>
          <a:p>
            <a:r>
              <a:rPr lang="en-IN" dirty="0"/>
              <a:t>This API call is sent for each neighbourhood and the venue data returned is stored into a </a:t>
            </a:r>
            <a:r>
              <a:rPr lang="en-IN" dirty="0" err="1"/>
              <a:t>dataframe</a:t>
            </a:r>
            <a:r>
              <a:rPr lang="en-IN" dirty="0"/>
              <a:t> by using a for loop to extract the required </a:t>
            </a:r>
            <a:r>
              <a:rPr lang="en-IN" dirty="0" err="1"/>
              <a:t>informationfrom</a:t>
            </a:r>
            <a:r>
              <a:rPr lang="en-IN" dirty="0"/>
              <a:t> the venues dictionary</a:t>
            </a:r>
          </a:p>
          <a:p>
            <a:endParaRPr lang="en-IN" dirty="0"/>
          </a:p>
          <a:p>
            <a:endParaRPr lang="en-IN" dirty="0"/>
          </a:p>
          <a:p>
            <a:endParaRPr lang="en-IN" dirty="0"/>
          </a:p>
          <a:p>
            <a:endParaRPr lang="en-IN" dirty="0"/>
          </a:p>
        </p:txBody>
      </p:sp>
      <p:pic>
        <p:nvPicPr>
          <p:cNvPr id="4" name="Picture 3">
            <a:extLst>
              <a:ext uri="{FF2B5EF4-FFF2-40B4-BE49-F238E27FC236}">
                <a16:creationId xmlns:a16="http://schemas.microsoft.com/office/drawing/2014/main" id="{B3D5CCDE-6836-46F6-AC7D-41A7206BE8F9}"/>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941297" y="4090474"/>
            <a:ext cx="8596668" cy="695459"/>
          </a:xfrm>
          <a:prstGeom prst="rect">
            <a:avLst/>
          </a:prstGeom>
          <a:noFill/>
          <a:ln>
            <a:noFill/>
          </a:ln>
        </p:spPr>
      </p:pic>
    </p:spTree>
    <p:extLst>
      <p:ext uri="{BB962C8B-B14F-4D97-AF65-F5344CB8AC3E}">
        <p14:creationId xmlns:p14="http://schemas.microsoft.com/office/powerpoint/2010/main" val="4101556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225A3-4345-46B3-B8BB-BBCC3E048A00}"/>
              </a:ext>
            </a:extLst>
          </p:cNvPr>
          <p:cNvSpPr>
            <a:spLocks noGrp="1"/>
          </p:cNvSpPr>
          <p:nvPr>
            <p:ph type="title"/>
          </p:nvPr>
        </p:nvSpPr>
        <p:spPr>
          <a:xfrm>
            <a:off x="677334" y="609600"/>
            <a:ext cx="8596668" cy="922986"/>
          </a:xfrm>
        </p:spPr>
        <p:txBody>
          <a:bodyPr/>
          <a:lstStyle/>
          <a:p>
            <a:r>
              <a:rPr lang="en-IN" dirty="0"/>
              <a:t>METHODOLOGY – ONE HOT ENCODING</a:t>
            </a:r>
          </a:p>
        </p:txBody>
      </p:sp>
      <p:sp>
        <p:nvSpPr>
          <p:cNvPr id="3" name="Content Placeholder 2">
            <a:extLst>
              <a:ext uri="{FF2B5EF4-FFF2-40B4-BE49-F238E27FC236}">
                <a16:creationId xmlns:a16="http://schemas.microsoft.com/office/drawing/2014/main" id="{0BD32B9F-D7FD-46F1-B5FA-ABAFFF5D8185}"/>
              </a:ext>
            </a:extLst>
          </p:cNvPr>
          <p:cNvSpPr>
            <a:spLocks noGrp="1"/>
          </p:cNvSpPr>
          <p:nvPr>
            <p:ph idx="1"/>
          </p:nvPr>
        </p:nvSpPr>
        <p:spPr>
          <a:xfrm>
            <a:off x="677334" y="1712891"/>
            <a:ext cx="8596668" cy="4328472"/>
          </a:xfrm>
        </p:spPr>
        <p:txBody>
          <a:bodyPr>
            <a:normAutofit/>
          </a:bodyPr>
          <a:lstStyle/>
          <a:p>
            <a:pPr marL="0" indent="0">
              <a:buNone/>
            </a:pPr>
            <a:r>
              <a:rPr lang="en-IN" dirty="0"/>
              <a:t>The data is in the form of categorical information and cannot be fed into a clustering or machine learning algorithm easily. As a result, one hot encoding is performed to convert the information into n columns, where n corresponds to the number of categories and each column either has a 0 or 1.</a:t>
            </a:r>
          </a:p>
          <a:p>
            <a:pPr marL="0" indent="0">
              <a:buNone/>
            </a:pPr>
            <a:r>
              <a:rPr lang="en-IN" dirty="0"/>
              <a:t>When we find the mean of this column grouped about the neighbourhood </a:t>
            </a:r>
            <a:r>
              <a:rPr lang="en-IN" dirty="0" err="1"/>
              <a:t>data,we</a:t>
            </a:r>
            <a:r>
              <a:rPr lang="en-IN" dirty="0"/>
              <a:t> get the </a:t>
            </a:r>
            <a:r>
              <a:rPr lang="en-IN" dirty="0" err="1"/>
              <a:t>dataframe</a:t>
            </a:r>
            <a:r>
              <a:rPr lang="en-IN" dirty="0"/>
              <a:t> ready for clustering.</a:t>
            </a:r>
          </a:p>
        </p:txBody>
      </p:sp>
      <p:pic>
        <p:nvPicPr>
          <p:cNvPr id="4" name="Picture 3">
            <a:extLst>
              <a:ext uri="{FF2B5EF4-FFF2-40B4-BE49-F238E27FC236}">
                <a16:creationId xmlns:a16="http://schemas.microsoft.com/office/drawing/2014/main" id="{5D42EE02-BE4B-4EDA-BE6B-20847B97471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849594" y="3877127"/>
            <a:ext cx="8252148" cy="2140978"/>
          </a:xfrm>
          <a:prstGeom prst="rect">
            <a:avLst/>
          </a:prstGeom>
          <a:noFill/>
          <a:ln>
            <a:noFill/>
          </a:ln>
        </p:spPr>
      </p:pic>
    </p:spTree>
    <p:extLst>
      <p:ext uri="{BB962C8B-B14F-4D97-AF65-F5344CB8AC3E}">
        <p14:creationId xmlns:p14="http://schemas.microsoft.com/office/powerpoint/2010/main" val="23503104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05A2D-0126-4FDB-AC8F-EA0638F81308}"/>
              </a:ext>
            </a:extLst>
          </p:cNvPr>
          <p:cNvSpPr>
            <a:spLocks noGrp="1"/>
          </p:cNvSpPr>
          <p:nvPr>
            <p:ph type="title"/>
          </p:nvPr>
        </p:nvSpPr>
        <p:spPr/>
        <p:txBody>
          <a:bodyPr/>
          <a:lstStyle/>
          <a:p>
            <a:r>
              <a:rPr lang="en-IN" dirty="0"/>
              <a:t>METHODOLOGY – KMEANS CLUSTERING</a:t>
            </a:r>
          </a:p>
        </p:txBody>
      </p:sp>
      <p:sp>
        <p:nvSpPr>
          <p:cNvPr id="3" name="Content Placeholder 2">
            <a:extLst>
              <a:ext uri="{FF2B5EF4-FFF2-40B4-BE49-F238E27FC236}">
                <a16:creationId xmlns:a16="http://schemas.microsoft.com/office/drawing/2014/main" id="{B664B8AB-8DD7-40BA-98C1-F3F0F0B43799}"/>
              </a:ext>
            </a:extLst>
          </p:cNvPr>
          <p:cNvSpPr>
            <a:spLocks noGrp="1"/>
          </p:cNvSpPr>
          <p:nvPr>
            <p:ph idx="1"/>
          </p:nvPr>
        </p:nvSpPr>
        <p:spPr>
          <a:xfrm>
            <a:off x="677334" y="1930401"/>
            <a:ext cx="8596668" cy="4110962"/>
          </a:xfrm>
        </p:spPr>
        <p:txBody>
          <a:bodyPr/>
          <a:lstStyle/>
          <a:p>
            <a:r>
              <a:rPr lang="en-IN" dirty="0"/>
              <a:t>The data is now clustered using an </a:t>
            </a:r>
          </a:p>
          <a:p>
            <a:pPr marL="0" indent="0">
              <a:buNone/>
            </a:pPr>
            <a:r>
              <a:rPr lang="en-IN" dirty="0"/>
              <a:t>unsupervised learning algorithm called </a:t>
            </a:r>
          </a:p>
          <a:p>
            <a:pPr marL="0" indent="0">
              <a:buNone/>
            </a:pPr>
            <a:r>
              <a:rPr lang="en-IN" dirty="0" err="1"/>
              <a:t>kmeans</a:t>
            </a:r>
            <a:r>
              <a:rPr lang="en-IN" dirty="0"/>
              <a:t> clustering. The data splits the </a:t>
            </a:r>
          </a:p>
          <a:p>
            <a:pPr marL="0" indent="0">
              <a:buNone/>
            </a:pPr>
            <a:r>
              <a:rPr lang="en-IN" dirty="0"/>
              <a:t>information into k clusters based on the</a:t>
            </a:r>
          </a:p>
          <a:p>
            <a:pPr marL="0" indent="0">
              <a:buNone/>
            </a:pPr>
            <a:r>
              <a:rPr lang="en-IN" dirty="0"/>
              <a:t>minimum sum of squares distance within </a:t>
            </a:r>
          </a:p>
          <a:p>
            <a:pPr marL="0" indent="0">
              <a:buNone/>
            </a:pPr>
            <a:r>
              <a:rPr lang="en-IN" dirty="0"/>
              <a:t>clusters.</a:t>
            </a:r>
          </a:p>
          <a:p>
            <a:pPr marL="0" indent="0">
              <a:buNone/>
            </a:pPr>
            <a:r>
              <a:rPr lang="en-IN" dirty="0"/>
              <a:t>To find the ideal k value, we loop it for </a:t>
            </a:r>
          </a:p>
          <a:p>
            <a:pPr marL="0" indent="0">
              <a:buNone/>
            </a:pPr>
            <a:r>
              <a:rPr lang="en-IN" dirty="0"/>
              <a:t>different values of k and choose the k</a:t>
            </a:r>
          </a:p>
          <a:p>
            <a:pPr marL="0" indent="0">
              <a:buNone/>
            </a:pPr>
            <a:r>
              <a:rPr lang="en-IN" dirty="0"/>
              <a:t>at the elbow point of the graph of </a:t>
            </a:r>
          </a:p>
          <a:p>
            <a:pPr marL="0" indent="0">
              <a:buNone/>
            </a:pPr>
            <a:r>
              <a:rPr lang="en-IN" dirty="0"/>
              <a:t>K vs SSE</a:t>
            </a:r>
          </a:p>
        </p:txBody>
      </p:sp>
      <p:pic>
        <p:nvPicPr>
          <p:cNvPr id="4" name="Picture 3">
            <a:extLst>
              <a:ext uri="{FF2B5EF4-FFF2-40B4-BE49-F238E27FC236}">
                <a16:creationId xmlns:a16="http://schemas.microsoft.com/office/drawing/2014/main" id="{6B3AE9B0-D80E-4860-9670-65D4F06D865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203704" y="1930400"/>
            <a:ext cx="3978933" cy="4318000"/>
          </a:xfrm>
          <a:prstGeom prst="rect">
            <a:avLst/>
          </a:prstGeom>
          <a:noFill/>
          <a:ln>
            <a:noFill/>
          </a:ln>
        </p:spPr>
      </p:pic>
    </p:spTree>
    <p:extLst>
      <p:ext uri="{BB962C8B-B14F-4D97-AF65-F5344CB8AC3E}">
        <p14:creationId xmlns:p14="http://schemas.microsoft.com/office/powerpoint/2010/main" val="2690192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D7307-F5D7-4321-B9F7-394D8F38C915}"/>
              </a:ext>
            </a:extLst>
          </p:cNvPr>
          <p:cNvSpPr>
            <a:spLocks noGrp="1"/>
          </p:cNvSpPr>
          <p:nvPr>
            <p:ph type="title"/>
          </p:nvPr>
        </p:nvSpPr>
        <p:spPr/>
        <p:txBody>
          <a:bodyPr>
            <a:normAutofit/>
          </a:bodyPr>
          <a:lstStyle/>
          <a:p>
            <a:r>
              <a:rPr lang="en-IN" sz="3200" dirty="0"/>
              <a:t>METHODOLOGY – DISTRIBUTION ANALYSIS</a:t>
            </a:r>
          </a:p>
        </p:txBody>
      </p:sp>
      <p:sp>
        <p:nvSpPr>
          <p:cNvPr id="3" name="Content Placeholder 2">
            <a:extLst>
              <a:ext uri="{FF2B5EF4-FFF2-40B4-BE49-F238E27FC236}">
                <a16:creationId xmlns:a16="http://schemas.microsoft.com/office/drawing/2014/main" id="{9CB891B2-4AE3-4525-8AEA-EC344539B1E4}"/>
              </a:ext>
            </a:extLst>
          </p:cNvPr>
          <p:cNvSpPr>
            <a:spLocks noGrp="1"/>
          </p:cNvSpPr>
          <p:nvPr>
            <p:ph idx="1"/>
          </p:nvPr>
        </p:nvSpPr>
        <p:spPr>
          <a:xfrm>
            <a:off x="677334" y="1455313"/>
            <a:ext cx="8596668" cy="4586049"/>
          </a:xfrm>
        </p:spPr>
        <p:txBody>
          <a:bodyPr/>
          <a:lstStyle/>
          <a:p>
            <a:r>
              <a:rPr lang="en-IN" dirty="0"/>
              <a:t>The restaurant distribution has been analysed and the following information is of great importance</a:t>
            </a:r>
          </a:p>
          <a:p>
            <a:endParaRPr lang="en-IN" dirty="0"/>
          </a:p>
          <a:p>
            <a:r>
              <a:rPr lang="en-IN" dirty="0"/>
              <a:t>Restaurant categories                                         Quantitative distribution</a:t>
            </a:r>
          </a:p>
        </p:txBody>
      </p:sp>
      <p:pic>
        <p:nvPicPr>
          <p:cNvPr id="4" name="Picture 3">
            <a:extLst>
              <a:ext uri="{FF2B5EF4-FFF2-40B4-BE49-F238E27FC236}">
                <a16:creationId xmlns:a16="http://schemas.microsoft.com/office/drawing/2014/main" id="{E4C46D9A-44A6-4D76-8130-DA3AD919681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50510" y="3033842"/>
            <a:ext cx="4601039" cy="3214558"/>
          </a:xfrm>
          <a:prstGeom prst="rect">
            <a:avLst/>
          </a:prstGeom>
          <a:noFill/>
          <a:ln>
            <a:noFill/>
          </a:ln>
        </p:spPr>
      </p:pic>
      <p:pic>
        <p:nvPicPr>
          <p:cNvPr id="5" name="Picture 4">
            <a:extLst>
              <a:ext uri="{FF2B5EF4-FFF2-40B4-BE49-F238E27FC236}">
                <a16:creationId xmlns:a16="http://schemas.microsoft.com/office/drawing/2014/main" id="{97AA6595-7CFC-4F26-B7AB-90C79A2F1BD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707085" y="3033842"/>
            <a:ext cx="3256611" cy="3457110"/>
          </a:xfrm>
          <a:prstGeom prst="rect">
            <a:avLst/>
          </a:prstGeom>
          <a:noFill/>
          <a:ln>
            <a:noFill/>
          </a:ln>
        </p:spPr>
      </p:pic>
    </p:spTree>
    <p:extLst>
      <p:ext uri="{BB962C8B-B14F-4D97-AF65-F5344CB8AC3E}">
        <p14:creationId xmlns:p14="http://schemas.microsoft.com/office/powerpoint/2010/main" val="831852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ADD27-CE65-461B-93AA-676BB5565EB0}"/>
              </a:ext>
            </a:extLst>
          </p:cNvPr>
          <p:cNvSpPr>
            <a:spLocks noGrp="1"/>
          </p:cNvSpPr>
          <p:nvPr>
            <p:ph type="title"/>
          </p:nvPr>
        </p:nvSpPr>
        <p:spPr/>
        <p:txBody>
          <a:bodyPr>
            <a:normAutofit/>
          </a:bodyPr>
          <a:lstStyle/>
          <a:p>
            <a:r>
              <a:rPr lang="en-IN" sz="3200" dirty="0"/>
              <a:t>METHODOLOGY – CLUSTER REPRESENTATION</a:t>
            </a:r>
          </a:p>
        </p:txBody>
      </p:sp>
      <p:sp>
        <p:nvSpPr>
          <p:cNvPr id="3" name="Content Placeholder 2">
            <a:extLst>
              <a:ext uri="{FF2B5EF4-FFF2-40B4-BE49-F238E27FC236}">
                <a16:creationId xmlns:a16="http://schemas.microsoft.com/office/drawing/2014/main" id="{06A79F85-D7A1-4E63-A142-3C54AB15F821}"/>
              </a:ext>
            </a:extLst>
          </p:cNvPr>
          <p:cNvSpPr>
            <a:spLocks noGrp="1"/>
          </p:cNvSpPr>
          <p:nvPr>
            <p:ph idx="1"/>
          </p:nvPr>
        </p:nvSpPr>
        <p:spPr>
          <a:xfrm>
            <a:off x="677334" y="1468193"/>
            <a:ext cx="8596668" cy="4573170"/>
          </a:xfrm>
        </p:spPr>
        <p:txBody>
          <a:bodyPr/>
          <a:lstStyle/>
          <a:p>
            <a:r>
              <a:rPr lang="en-IN" dirty="0"/>
              <a:t>The neighbourhoods with the respective clusters are shown on a folium map</a:t>
            </a:r>
          </a:p>
          <a:p>
            <a:endParaRPr lang="en-IN" dirty="0"/>
          </a:p>
          <a:p>
            <a:r>
              <a:rPr lang="en-IN" dirty="0"/>
              <a:t>Neighbourhoods                                                   Cluster representation</a:t>
            </a:r>
          </a:p>
          <a:p>
            <a:pPr marL="0" indent="0">
              <a:buNone/>
            </a:pPr>
            <a:r>
              <a:rPr lang="en-IN" dirty="0"/>
              <a:t>  (city centre in red)                                           (cluster labels shown in popup)</a:t>
            </a:r>
          </a:p>
        </p:txBody>
      </p:sp>
      <p:pic>
        <p:nvPicPr>
          <p:cNvPr id="4" name="Picture 3">
            <a:extLst>
              <a:ext uri="{FF2B5EF4-FFF2-40B4-BE49-F238E27FC236}">
                <a16:creationId xmlns:a16="http://schemas.microsoft.com/office/drawing/2014/main" id="{3AEF58CD-7B0C-40C7-A45E-02E322A418D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07641" y="3140964"/>
            <a:ext cx="4012843" cy="2769870"/>
          </a:xfrm>
          <a:prstGeom prst="rect">
            <a:avLst/>
          </a:prstGeom>
          <a:noFill/>
          <a:ln>
            <a:noFill/>
          </a:ln>
        </p:spPr>
      </p:pic>
      <p:pic>
        <p:nvPicPr>
          <p:cNvPr id="6" name="Picture 5">
            <a:extLst>
              <a:ext uri="{FF2B5EF4-FFF2-40B4-BE49-F238E27FC236}">
                <a16:creationId xmlns:a16="http://schemas.microsoft.com/office/drawing/2014/main" id="{201A72A8-D816-48CD-9CDA-BBE84423AF00}"/>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407182" y="3140964"/>
            <a:ext cx="4345606" cy="2769870"/>
          </a:xfrm>
          <a:prstGeom prst="rect">
            <a:avLst/>
          </a:prstGeom>
          <a:noFill/>
          <a:ln>
            <a:noFill/>
          </a:ln>
        </p:spPr>
      </p:pic>
    </p:spTree>
    <p:extLst>
      <p:ext uri="{BB962C8B-B14F-4D97-AF65-F5344CB8AC3E}">
        <p14:creationId xmlns:p14="http://schemas.microsoft.com/office/powerpoint/2010/main" val="1437014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CC6A5-97F1-4E0B-8F70-AA096B4EF7F2}"/>
              </a:ext>
            </a:extLst>
          </p:cNvPr>
          <p:cNvSpPr>
            <a:spLocks noGrp="1"/>
          </p:cNvSpPr>
          <p:nvPr>
            <p:ph type="title"/>
          </p:nvPr>
        </p:nvSpPr>
        <p:spPr>
          <a:xfrm>
            <a:off x="677334" y="609600"/>
            <a:ext cx="8596668" cy="987380"/>
          </a:xfrm>
        </p:spPr>
        <p:txBody>
          <a:bodyPr>
            <a:normAutofit/>
          </a:bodyPr>
          <a:lstStyle/>
          <a:p>
            <a:r>
              <a:rPr lang="en-IN" sz="3200" dirty="0"/>
              <a:t>METHODOLOGY – CLUSTER ANALYSIS</a:t>
            </a:r>
          </a:p>
        </p:txBody>
      </p:sp>
      <p:sp>
        <p:nvSpPr>
          <p:cNvPr id="3" name="Content Placeholder 2">
            <a:extLst>
              <a:ext uri="{FF2B5EF4-FFF2-40B4-BE49-F238E27FC236}">
                <a16:creationId xmlns:a16="http://schemas.microsoft.com/office/drawing/2014/main" id="{91A850BE-EF7A-47B0-94CC-4F70CE36C778}"/>
              </a:ext>
            </a:extLst>
          </p:cNvPr>
          <p:cNvSpPr>
            <a:spLocks noGrp="1"/>
          </p:cNvSpPr>
          <p:nvPr>
            <p:ph idx="1"/>
          </p:nvPr>
        </p:nvSpPr>
        <p:spPr>
          <a:xfrm>
            <a:off x="677334" y="1350705"/>
            <a:ext cx="8596668" cy="4752304"/>
          </a:xfrm>
        </p:spPr>
        <p:txBody>
          <a:bodyPr/>
          <a:lstStyle/>
          <a:p>
            <a:r>
              <a:rPr lang="en-IN" dirty="0"/>
              <a:t>For example, cluster 6 has information displayed as shown below.</a:t>
            </a:r>
          </a:p>
          <a:p>
            <a:endParaRPr lang="en-IN" dirty="0"/>
          </a:p>
          <a:p>
            <a:pPr marL="0" indent="0">
              <a:buNone/>
            </a:pPr>
            <a:r>
              <a:rPr lang="en-IN" dirty="0"/>
              <a:t> </a:t>
            </a:r>
          </a:p>
        </p:txBody>
      </p:sp>
      <p:pic>
        <p:nvPicPr>
          <p:cNvPr id="5" name="Picture 4">
            <a:extLst>
              <a:ext uri="{FF2B5EF4-FFF2-40B4-BE49-F238E27FC236}">
                <a16:creationId xmlns:a16="http://schemas.microsoft.com/office/drawing/2014/main" id="{5B11A166-4878-43BD-AB04-588B550B0A4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941299" y="1999394"/>
            <a:ext cx="8086792" cy="2735743"/>
          </a:xfrm>
          <a:prstGeom prst="rect">
            <a:avLst/>
          </a:prstGeom>
          <a:noFill/>
          <a:ln>
            <a:solidFill>
              <a:schemeClr val="tx1"/>
            </a:solidFill>
          </a:ln>
        </p:spPr>
      </p:pic>
      <p:sp>
        <p:nvSpPr>
          <p:cNvPr id="6" name="TextBox 5">
            <a:extLst>
              <a:ext uri="{FF2B5EF4-FFF2-40B4-BE49-F238E27FC236}">
                <a16:creationId xmlns:a16="http://schemas.microsoft.com/office/drawing/2014/main" id="{823E2931-C602-4AE0-9409-A7731EFE5000}"/>
              </a:ext>
            </a:extLst>
          </p:cNvPr>
          <p:cNvSpPr txBox="1"/>
          <p:nvPr/>
        </p:nvSpPr>
        <p:spPr>
          <a:xfrm>
            <a:off x="677334" y="5137551"/>
            <a:ext cx="8968942" cy="1200329"/>
          </a:xfrm>
          <a:prstGeom prst="rect">
            <a:avLst/>
          </a:prstGeom>
          <a:noFill/>
        </p:spPr>
        <p:txBody>
          <a:bodyPr wrap="square" rtlCol="0">
            <a:spAutoFit/>
          </a:bodyPr>
          <a:lstStyle/>
          <a:p>
            <a:r>
              <a:rPr lang="en-IN" dirty="0"/>
              <a:t>The above table shows the restaurant distribution for neighbourhoods in cluster 6 and it shows a clear excess of vegan and </a:t>
            </a:r>
            <a:r>
              <a:rPr lang="en-IN" dirty="0" err="1"/>
              <a:t>thai</a:t>
            </a:r>
            <a:r>
              <a:rPr lang="en-IN" dirty="0"/>
              <a:t> restaurants and a clear lack of pizza places and snacking places. (The end columns aren’t present in the screenshot but have been taken into consideration for the analysis).</a:t>
            </a:r>
          </a:p>
        </p:txBody>
      </p:sp>
    </p:spTree>
    <p:extLst>
      <p:ext uri="{BB962C8B-B14F-4D97-AF65-F5344CB8AC3E}">
        <p14:creationId xmlns:p14="http://schemas.microsoft.com/office/powerpoint/2010/main" val="1470901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B892-D350-4AAF-A645-EDC1ABB689C9}"/>
              </a:ext>
            </a:extLst>
          </p:cNvPr>
          <p:cNvSpPr>
            <a:spLocks noGrp="1"/>
          </p:cNvSpPr>
          <p:nvPr>
            <p:ph type="title"/>
          </p:nvPr>
        </p:nvSpPr>
        <p:spPr>
          <a:xfrm>
            <a:off x="677334" y="609600"/>
            <a:ext cx="8596668" cy="832834"/>
          </a:xfrm>
        </p:spPr>
        <p:txBody>
          <a:bodyPr/>
          <a:lstStyle/>
          <a:p>
            <a:r>
              <a:rPr lang="en-IN" dirty="0"/>
              <a:t>METHODOLOGY – CLUSTER ANALYSIS</a:t>
            </a:r>
          </a:p>
        </p:txBody>
      </p:sp>
      <p:sp>
        <p:nvSpPr>
          <p:cNvPr id="3" name="Content Placeholder 2">
            <a:extLst>
              <a:ext uri="{FF2B5EF4-FFF2-40B4-BE49-F238E27FC236}">
                <a16:creationId xmlns:a16="http://schemas.microsoft.com/office/drawing/2014/main" id="{1A59CFC6-259E-4CA6-8DDF-5698E502D037}"/>
              </a:ext>
            </a:extLst>
          </p:cNvPr>
          <p:cNvSpPr>
            <a:spLocks noGrp="1"/>
          </p:cNvSpPr>
          <p:nvPr>
            <p:ph idx="1"/>
          </p:nvPr>
        </p:nvSpPr>
        <p:spPr>
          <a:xfrm>
            <a:off x="677334" y="1777285"/>
            <a:ext cx="8596668" cy="4264077"/>
          </a:xfrm>
        </p:spPr>
        <p:txBody>
          <a:bodyPr/>
          <a:lstStyle/>
          <a:p>
            <a:r>
              <a:rPr lang="en-IN" dirty="0"/>
              <a:t>Similarly, all the clusters were analysed and the information has been combined into a table as shown below.</a:t>
            </a:r>
          </a:p>
          <a:p>
            <a:endParaRPr lang="en-IN" dirty="0"/>
          </a:p>
        </p:txBody>
      </p:sp>
      <p:pic>
        <p:nvPicPr>
          <p:cNvPr id="4" name="Picture 3">
            <a:extLst>
              <a:ext uri="{FF2B5EF4-FFF2-40B4-BE49-F238E27FC236}">
                <a16:creationId xmlns:a16="http://schemas.microsoft.com/office/drawing/2014/main" id="{A010DE08-4176-4814-80CC-5F1C396CA4F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74303" y="2850622"/>
            <a:ext cx="9097731" cy="2854719"/>
          </a:xfrm>
          <a:prstGeom prst="rect">
            <a:avLst/>
          </a:prstGeom>
          <a:noFill/>
          <a:ln>
            <a:solidFill>
              <a:schemeClr val="tx1"/>
            </a:solidFill>
          </a:ln>
        </p:spPr>
      </p:pic>
    </p:spTree>
    <p:extLst>
      <p:ext uri="{BB962C8B-B14F-4D97-AF65-F5344CB8AC3E}">
        <p14:creationId xmlns:p14="http://schemas.microsoft.com/office/powerpoint/2010/main" val="146908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C87FB-D9B8-460E-AC2D-C7C8710BF98B}"/>
              </a:ext>
            </a:extLst>
          </p:cNvPr>
          <p:cNvSpPr>
            <a:spLocks noGrp="1"/>
          </p:cNvSpPr>
          <p:nvPr>
            <p:ph type="title"/>
          </p:nvPr>
        </p:nvSpPr>
        <p:spPr>
          <a:xfrm>
            <a:off x="677334" y="609600"/>
            <a:ext cx="8596668" cy="819955"/>
          </a:xfrm>
        </p:spPr>
        <p:txBody>
          <a:bodyPr>
            <a:normAutofit/>
          </a:bodyPr>
          <a:lstStyle/>
          <a:p>
            <a:r>
              <a:rPr lang="en-IN" sz="3200" dirty="0"/>
              <a:t>RESULT, DISCUSSION AND CONCLUSION</a:t>
            </a:r>
          </a:p>
        </p:txBody>
      </p:sp>
      <p:sp>
        <p:nvSpPr>
          <p:cNvPr id="3" name="Content Placeholder 2">
            <a:extLst>
              <a:ext uri="{FF2B5EF4-FFF2-40B4-BE49-F238E27FC236}">
                <a16:creationId xmlns:a16="http://schemas.microsoft.com/office/drawing/2014/main" id="{A98F6459-19FF-4D09-9CC6-4777C472B6AA}"/>
              </a:ext>
            </a:extLst>
          </p:cNvPr>
          <p:cNvSpPr>
            <a:spLocks noGrp="1"/>
          </p:cNvSpPr>
          <p:nvPr>
            <p:ph idx="1"/>
          </p:nvPr>
        </p:nvSpPr>
        <p:spPr>
          <a:xfrm>
            <a:off x="677334" y="1429555"/>
            <a:ext cx="8596668" cy="4919730"/>
          </a:xfrm>
        </p:spPr>
        <p:txBody>
          <a:bodyPr>
            <a:normAutofit/>
          </a:bodyPr>
          <a:lstStyle/>
          <a:p>
            <a:r>
              <a:rPr lang="en-IN" dirty="0"/>
              <a:t>The analysis focuses on retrieving all the venues in Chennai, accurately filtering out the restaurants and clustering them to analyse the neighbourhoods</a:t>
            </a:r>
          </a:p>
          <a:p>
            <a:r>
              <a:rPr lang="en-IN" dirty="0"/>
              <a:t>The analysis showed an exceptionally high number of Indian restaurants and a reasonably high number of Chinese restaurants</a:t>
            </a:r>
          </a:p>
          <a:p>
            <a:r>
              <a:rPr lang="en-IN" dirty="0"/>
              <a:t>the few major areas that had a major lack of Indian restaurants were identified which could be crucial for stakeholders interested in entering the Indian restaurant game. </a:t>
            </a:r>
          </a:p>
          <a:p>
            <a:r>
              <a:rPr lang="en-IN" dirty="0"/>
              <a:t>For a future design, the data could be fed into an app or platform where based on the type of restaurant or choice of area, the cluster data, similar neighbourhoods, distribution of restaurants etc can be easily obtained.</a:t>
            </a:r>
          </a:p>
          <a:p>
            <a:r>
              <a:rPr lang="en-IN" dirty="0"/>
              <a:t>Final decision on optimal restaurant location will be made by stakeholders based on specific characteristics of neighbourhoods and locations in every recommended zone, taking into consideration additional factors like attractiveness of each location.</a:t>
            </a:r>
          </a:p>
        </p:txBody>
      </p:sp>
    </p:spTree>
    <p:extLst>
      <p:ext uri="{BB962C8B-B14F-4D97-AF65-F5344CB8AC3E}">
        <p14:creationId xmlns:p14="http://schemas.microsoft.com/office/powerpoint/2010/main" val="37932699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72</TotalTime>
  <Words>783</Words>
  <Application>Microsoft Office PowerPoint</Application>
  <PresentationFormat>Widescreen</PresentationFormat>
  <Paragraphs>56</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Trebuchet MS</vt:lpstr>
      <vt:lpstr>Wingdings 3</vt:lpstr>
      <vt:lpstr>Facet</vt:lpstr>
      <vt:lpstr>ANALYSIS OF RESTAURANT DISTRIBUTION IN THE CITY OF CHENNAI</vt:lpstr>
      <vt:lpstr>BUSINESS UNDERSTANDING </vt:lpstr>
      <vt:lpstr>DATA PREPARATION – Location information </vt:lpstr>
      <vt:lpstr>DATA PREPARATION – Venue information </vt:lpstr>
      <vt:lpstr>METHODOLOGY – ONE HOT ENCODING</vt:lpstr>
      <vt:lpstr>METHODOLOGY – KMEANS CLUSTERING</vt:lpstr>
      <vt:lpstr>METHODOLOGY – DISTRIBUTION ANALYSIS</vt:lpstr>
      <vt:lpstr>METHODOLOGY – CLUSTER REPRESENTATION</vt:lpstr>
      <vt:lpstr>METHODOLOGY – CLUSTER ANALYSIS</vt:lpstr>
      <vt:lpstr>METHODOLOGY – CLUSTER ANALYSIS</vt:lpstr>
      <vt:lpstr>RESULT, DISCUSSION AND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dc:creator>
  <cp:lastModifiedBy> </cp:lastModifiedBy>
  <cp:revision>8</cp:revision>
  <dcterms:created xsi:type="dcterms:W3CDTF">2020-04-26T13:33:09Z</dcterms:created>
  <dcterms:modified xsi:type="dcterms:W3CDTF">2020-04-26T14:46:04Z</dcterms:modified>
</cp:coreProperties>
</file>